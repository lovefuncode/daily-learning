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74" r:id="rId5"/>
    <p:sldId id="263" r:id="rId6"/>
    <p:sldId id="267" r:id="rId7"/>
    <p:sldId id="275" r:id="rId8"/>
    <p:sldId id="287" r:id="rId9"/>
    <p:sldId id="284" r:id="rId10"/>
    <p:sldId id="285" r:id="rId11"/>
    <p:sldId id="286" r:id="rId12"/>
    <p:sldId id="262" r:id="rId13"/>
    <p:sldId id="258" r:id="rId14"/>
    <p:sldId id="276" r:id="rId15"/>
    <p:sldId id="277" r:id="rId16"/>
    <p:sldId id="261" r:id="rId17"/>
    <p:sldId id="278" r:id="rId18"/>
    <p:sldId id="280" r:id="rId19"/>
    <p:sldId id="279" r:id="rId20"/>
    <p:sldId id="260" r:id="rId21"/>
    <p:sldId id="281" r:id="rId22"/>
    <p:sldId id="272" r:id="rId23"/>
    <p:sldId id="283" r:id="rId24"/>
    <p:sldId id="282" r:id="rId25"/>
    <p:sldId id="259" r:id="rId26"/>
    <p:sldId id="264" r:id="rId27"/>
    <p:sldId id="265" r:id="rId28"/>
    <p:sldId id="266" r:id="rId29"/>
    <p:sldId id="268" r:id="rId30"/>
    <p:sldId id="269" r:id="rId31"/>
    <p:sldId id="270" r:id="rId32"/>
    <p:sldId id="273" r:id="rId3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041"/>
  </p:normalViewPr>
  <p:slideViewPr>
    <p:cSldViewPr snapToGrid="0">
      <p:cViewPr varScale="1">
        <p:scale>
          <a:sx n="117" d="100"/>
          <a:sy n="117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DA52-CC96-2EB1-7956-F2389292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F69F2-E640-25A0-B60B-C286ABF7E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A9F08-2A5D-027B-C361-20C78CD6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8D96B-C87A-6C0C-4902-1B3F5297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C40B2-09EF-1BB5-7F0B-B923866E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498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82E65-31D6-5F3E-F6A4-13C98949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99125-2CA9-510D-FE4A-63AF4B5E7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06519-26D5-828E-4716-60F80C78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4CADB-D009-86A2-A12D-A9441911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701E4-700E-8642-1DEB-365E7C5A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586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61BE0-A3B8-6764-FB93-364635F5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97FB0-EB10-E23F-320D-72CE19325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A2E9B-EDBC-3F9B-4CC5-4E76E98C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243AC-181E-2B1E-8AC1-948C7A7C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66C94-2FFB-4198-C1EB-51CE0950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3384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0613-F464-46B9-C34A-DA33DBF7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74957-2155-F3AA-C714-62740BE3E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F94C4-79F5-3B1C-10C9-2D649681D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156F4-7A86-3506-FCAD-219C3F79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BCA99-933F-8FC7-9BF8-D83F5EC9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293BC-2626-6BDC-2682-688ECC6E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85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FC77-DE50-52A0-311C-1AC307721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81180-38B8-0C9E-2295-410614774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420B4-DF3A-99B7-8392-1510AB89E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D2CDE8-68FA-775D-E73F-4E264C714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A41E0-8856-90E5-E07E-C1D5F4EF4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62DDED-8E25-E756-4CE5-F3320FB33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EFBAC-48FE-7927-F306-A718125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EA9283-2441-D8BD-EEFD-5B8D5EC8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314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8F87-F837-897A-AD90-9BF87B47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80F56-7732-D557-3D86-20666F437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7C8702-59AC-61B4-01A9-648A004A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B72FD-9328-DEC0-926B-9D4077A6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969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55B71-C111-5446-200A-5A0DD9E2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1403D-B52A-5F0B-9D02-CF892D6C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B1C52-78BD-80BC-6DF0-71F88AFA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4392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47D7-3754-6C40-A07B-877509C8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D901-D3E6-CC71-067F-0BB4C6D6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EE98-1F46-7E6F-B65F-6C71F6DF9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F63EC-CA6D-FD03-E491-8DF7EA3E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CEE1F-05D6-C803-716D-B404CAA9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E0914-2D70-5F04-0717-07692F9C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134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4873-66D3-13C0-1870-DECB9DE9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367F0-E080-7B33-605F-D99F0AF24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3EA7F-A008-3902-CC70-AB85CF3E1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2397E-2A51-7DFF-DBD6-1D216EEC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8A613-697E-2249-8B7A-8C35213CE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1EBFE-3F6D-0CC6-A609-58BCDFBF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128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39CDE-02FB-69F7-4DB2-87D3716F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FB50C-65F7-7A0F-58AF-30AA2F570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E64E-8FC8-800F-B7FB-ADF3AE8DB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3DC18-4453-63DB-1777-14A3F8C9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2F62D-36D4-6485-410C-FFDBBFAA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52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0D69F0-D705-29F1-9210-9D71EFBD3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82749-D1BF-021A-EB0C-D68DD2801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159A2-109F-51AB-AC51-A345AD5EC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8F365-6891-C5F8-E3A1-CCC6B33B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CBF5F-0638-B5EE-6FD2-23339A5F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7261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5BC08-0EA2-EB86-CA34-D8607E474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77A23-5700-077F-7801-DCE0F1A65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FFE85-8865-5729-F123-5AA5D7F2B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6F946-BC30-0047-816E-627B56D66448}" type="datetimeFigureOut">
              <a:rPr lang="en-CN" smtClean="0"/>
              <a:t>2026/2/6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CD44A-5F6A-0C83-B11A-C23D83F19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63EF9-DA09-C33B-C7D6-9B1408684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64784-6855-A148-81F0-31C032A885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57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native.dev/blog/2022/03/30/version-068#opting-in-to-the-new-architecture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971" y="1688420"/>
            <a:ext cx="9144000" cy="2387600"/>
          </a:xfrm>
        </p:spPr>
        <p:txBody>
          <a:bodyPr/>
          <a:lstStyle/>
          <a:p>
            <a:r>
              <a:rPr lang="en-CN" dirty="0">
                <a:highlight>
                  <a:srgbClr val="FFFF00"/>
                </a:highlight>
              </a:rPr>
              <a:t>React VS React-Native</a:t>
            </a:r>
            <a:br>
              <a:rPr lang="en-CN" dirty="0"/>
            </a:b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12226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E4157A-2847-80E2-CAB3-3AB7EA19E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70" y="858202"/>
            <a:ext cx="9917430" cy="47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95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119953-9302-4D2D-9579-5807DE341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89" y="0"/>
            <a:ext cx="5943600" cy="675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1415143" y="827314"/>
            <a:ext cx="88065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CN" dirty="0"/>
              <a:t>New vs Old Architecutre Comparion(</a:t>
            </a:r>
            <a:r>
              <a:rPr lang="en-US" b="0" i="0" dirty="0">
                <a:solidFill>
                  <a:srgbClr val="1C1E21"/>
                </a:solidFill>
                <a:effectLst/>
                <a:highlight>
                  <a:srgbClr val="00FF00"/>
                </a:highlight>
                <a:latin typeface="Optimistic Display"/>
              </a:rPr>
              <a:t>Fabric</a:t>
            </a:r>
            <a:r>
              <a:rPr lang="en-US" b="0" i="0" dirty="0">
                <a:solidFill>
                  <a:srgbClr val="1C1E21"/>
                </a:solidFill>
                <a:effectLst/>
                <a:latin typeface="Optimistic Display"/>
              </a:rPr>
              <a:t> is React Native's new rendering system, </a:t>
            </a:r>
            <a:r>
              <a:rPr lang="en-US" b="0" i="0" dirty="0">
                <a:solidFill>
                  <a:srgbClr val="357DA1"/>
                </a:solidFill>
                <a:effectLst/>
                <a:latin typeface="Optimistic Display"/>
                <a:hlinkClick r:id="rId2"/>
              </a:rPr>
              <a:t>React Native 0.68</a:t>
            </a:r>
            <a:r>
              <a:rPr lang="en-US" b="0" i="0" dirty="0">
                <a:solidFill>
                  <a:srgbClr val="357DA1"/>
                </a:solidFill>
                <a:effectLst/>
                <a:latin typeface="Optimistic Display"/>
              </a:rPr>
              <a:t>, 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Version </a:t>
            </a:r>
            <a:r>
              <a:rPr lang="en-US" b="1" i="0" dirty="0">
                <a:solidFill>
                  <a:srgbClr val="0A0A0A"/>
                </a:solidFill>
                <a:effectLst/>
                <a:highlight>
                  <a:srgbClr val="00FF00"/>
                </a:highlight>
                <a:latin typeface="Google Sans"/>
              </a:rPr>
              <a:t>0.76 default</a:t>
            </a:r>
            <a:r>
              <a:rPr lang="en-CN" dirty="0"/>
              <a:t>)</a:t>
            </a:r>
          </a:p>
          <a:p>
            <a:pPr marL="342900" indent="-342900">
              <a:buAutoNum type="arabicPeriod"/>
            </a:pPr>
            <a:r>
              <a:rPr lang="en-CN" dirty="0"/>
              <a:t>The Rendering: DOM  VS Native Views</a:t>
            </a:r>
          </a:p>
          <a:p>
            <a:pPr marL="342900" indent="-342900">
              <a:buAutoNum type="arabicPeriod"/>
            </a:pPr>
            <a:r>
              <a:rPr lang="en-CN" dirty="0"/>
              <a:t>Threading Architecture</a:t>
            </a:r>
          </a:p>
          <a:p>
            <a:pPr marL="342900" indent="-342900">
              <a:buAutoNum type="arabicPeriod"/>
            </a:pPr>
            <a:r>
              <a:rPr lang="en-CN" dirty="0"/>
              <a:t>Styling: Yoga vs Css </a:t>
            </a:r>
          </a:p>
          <a:p>
            <a:pPr marL="342900" indent="-342900">
              <a:buAutoNum type="arabicPeriod"/>
            </a:pPr>
            <a:r>
              <a:rPr lang="en-CN" dirty="0"/>
              <a:t>View Flattening</a:t>
            </a:r>
          </a:p>
          <a:p>
            <a:pPr marL="342900" indent="-342900">
              <a:buAutoNum type="arabicPeriod"/>
            </a:pPr>
            <a:r>
              <a:rPr lang="en-CN" dirty="0"/>
              <a:t>Navigation </a:t>
            </a:r>
          </a:p>
          <a:p>
            <a:pPr marL="342900" indent="-342900">
              <a:buAutoNum type="arabicPeriod"/>
            </a:pPr>
            <a:r>
              <a:rPr lang="en-CN" dirty="0"/>
              <a:t>Lifecycle</a:t>
            </a:r>
          </a:p>
          <a:p>
            <a:pPr marL="342900" indent="-342900">
              <a:buAutoNum type="arabicPeriod"/>
            </a:pPr>
            <a:r>
              <a:rPr lang="en-CN" dirty="0"/>
              <a:t>Engine</a:t>
            </a:r>
          </a:p>
          <a:p>
            <a:pPr marL="342900" indent="-342900">
              <a:buAutoNum type="arabicPeriod"/>
            </a:pPr>
            <a:r>
              <a:rPr lang="en-CN" dirty="0"/>
              <a:t>Timer(Web VS  React-Native VS Node)</a:t>
            </a:r>
          </a:p>
          <a:p>
            <a:pPr marL="342900" indent="-342900">
              <a:buAutoNum type="arabicPeriod"/>
            </a:pPr>
            <a:r>
              <a:rPr lang="en-CN" dirty="0"/>
              <a:t> Build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232316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54BF6-3ED2-78DE-145C-A487E6195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4901"/>
            <a:ext cx="6096000" cy="64081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48E35C-7503-7924-EACD-174C486A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24900"/>
            <a:ext cx="5910943" cy="64081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107353-2922-9D1A-D179-371B9987BA60}"/>
              </a:ext>
            </a:extLst>
          </p:cNvPr>
          <p:cNvSpPr txBox="1"/>
          <p:nvPr/>
        </p:nvSpPr>
        <p:spPr>
          <a:xfrm>
            <a:off x="6477001" y="6396335"/>
            <a:ext cx="61395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C1E21"/>
                </a:solidFill>
                <a:effectLst/>
                <a:latin typeface="Optimistic Display"/>
              </a:rPr>
              <a:t>Synchronous Layout and Effects</a:t>
            </a:r>
          </a:p>
          <a:p>
            <a:br>
              <a:rPr lang="en-US" dirty="0"/>
            </a:b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0076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45CA4D-0777-D916-AFB6-732CC99A3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50427"/>
            <a:ext cx="6096000" cy="46693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C61A34-A163-494D-27CF-BE8A11E77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34142"/>
            <a:ext cx="5808721" cy="48856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FE24DD-43A2-D548-2228-B4302C134B18}"/>
              </a:ext>
            </a:extLst>
          </p:cNvPr>
          <p:cNvSpPr txBox="1"/>
          <p:nvPr/>
        </p:nvSpPr>
        <p:spPr>
          <a:xfrm>
            <a:off x="87086" y="325835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Web Rendering  vs. React-Native Fabric</a:t>
            </a:r>
          </a:p>
        </p:txBody>
      </p:sp>
    </p:spTree>
    <p:extLst>
      <p:ext uri="{BB962C8B-B14F-4D97-AF65-F5344CB8AC3E}">
        <p14:creationId xmlns:p14="http://schemas.microsoft.com/office/powerpoint/2010/main" val="227456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48343" y="387562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The Rendering: DOM VS Native Views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A38054-806F-A36D-A530-869167C4A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985458"/>
              </p:ext>
            </p:extLst>
          </p:nvPr>
        </p:nvGraphicFramePr>
        <p:xfrm>
          <a:off x="484414" y="1451804"/>
          <a:ext cx="9829800" cy="3124200"/>
        </p:xfrm>
        <a:graphic>
          <a:graphicData uri="http://schemas.openxmlformats.org/drawingml/2006/table">
            <a:tbl>
              <a:tblPr/>
              <a:tblGrid>
                <a:gridCol w="1853927">
                  <a:extLst>
                    <a:ext uri="{9D8B030D-6E8A-4147-A177-3AD203B41FA5}">
                      <a16:colId xmlns:a16="http://schemas.microsoft.com/office/drawing/2014/main" val="3133078455"/>
                    </a:ext>
                  </a:extLst>
                </a:gridCol>
                <a:gridCol w="4699273">
                  <a:extLst>
                    <a:ext uri="{9D8B030D-6E8A-4147-A177-3AD203B41FA5}">
                      <a16:colId xmlns:a16="http://schemas.microsoft.com/office/drawing/2014/main" val="125473571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254788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Rendering Target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Browser DOM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Virtual DOM diffs are reconciled into real DOM nodes —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&lt;div&gt;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&lt;span&gt;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img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&gt;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. The browser's rendering engine (Blink,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WebKit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, Gecko) handles layout, paint, and compositing.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JSX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→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VDOM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→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DOM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Nodes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→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Browser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 Paint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Platform Native Views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Renders to actual native UI components —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UIView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(iOS) /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android.view.View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(Android). No WebView, no HTML. The OS composites the views directly via GPU.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JSX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→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React Element Tree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→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React shadow Tree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→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Host View Tree(Native View)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36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324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7454E2-494E-FB8D-E58B-0ABE270D4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69" y="97970"/>
            <a:ext cx="6877014" cy="67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9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26571" y="123539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Initial Render Pipeline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E07ED4-EE99-632D-7AAE-4AC20CD6F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559772"/>
              </p:ext>
            </p:extLst>
          </p:nvPr>
        </p:nvGraphicFramePr>
        <p:xfrm>
          <a:off x="440872" y="523649"/>
          <a:ext cx="11587842" cy="5562600"/>
        </p:xfrm>
        <a:graphic>
          <a:graphicData uri="http://schemas.openxmlformats.org/drawingml/2006/table">
            <a:tbl>
              <a:tblPr/>
              <a:tblGrid>
                <a:gridCol w="5067432">
                  <a:extLst>
                    <a:ext uri="{9D8B030D-6E8A-4147-A177-3AD203B41FA5}">
                      <a16:colId xmlns:a16="http://schemas.microsoft.com/office/drawing/2014/main" val="1254735710"/>
                    </a:ext>
                  </a:extLst>
                </a:gridCol>
                <a:gridCol w="6520410">
                  <a:extLst>
                    <a:ext uri="{9D8B030D-6E8A-4147-A177-3AD203B41FA5}">
                      <a16:colId xmlns:a16="http://schemas.microsoft.com/office/drawing/2014/main" val="3254788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Render Phase </a:t>
                      </a:r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Execute Component → Virtual DOM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MyComponent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 executes in V8/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SpiderMonkey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/JSC. Returns React Elements → builds the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Virtual DOM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(JS objects in memory). Also called the "Fiber Tree" internally.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Reconciliation Main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 Virtual DOM (no-op on first render)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initial render: no previous tree to diff. React marks all Fiber nodes as needing placement. Builds the "effect list" of DOM operations to perform.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Commit Phase </a:t>
                      </a:r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DOM Nodes &amp; Append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 calls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document.createElement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(), sets attributes/properties, calls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appendChild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 to build the real DOM tree.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Browser Paint </a:t>
                      </a:r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Thread + GPU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Layout → Paint → Composite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Browser CSS engine calculates layout (reflow), paints pixels to layers, and the GPU compositor assembles the final frame.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 element on screen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Render Phase </a:t>
                      </a:r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Execute Component → Create React Shadow Node(React Host Components)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MyComponent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 executes on the JS thread via Hermes. Creates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 Element tree (JS objects),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builds the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Shadow Tree (C++)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via JSI. The Shadow Tree lives in C++ memory.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Commit Phase </a:t>
                      </a:r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Layout calculation(React Shadow Node)  + Tree Promotion(New Tree -&gt; Next Tree)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Yoga Layout Calculation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Yoga (C++ Flexbox engine) traverses the Shadow Tree, calculates layout: positions (x, y), sizes (width, height), via Flexbox algorithm. Produces absolute pixel coordinates for every node.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Mount Phase  </a:t>
                      </a:r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 the React Shadow Tree(contains data from layout calculation) into a Host View Tree with rendered pixels on the screen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 Diffing(view Flattening)   + Tree Promotion(Next Tree -&gt; Render Tree) + View Mounting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 native views are instantiated: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UIView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/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ViewGroup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Properties applied, views inserted into the native view hierarchy.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Native View on screen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36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770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152854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React State Updates Pipeline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85B490-DAEF-BD55-2F09-3CB1FF00B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210258"/>
              </p:ext>
            </p:extLst>
          </p:nvPr>
        </p:nvGraphicFramePr>
        <p:xfrm>
          <a:off x="359229" y="771751"/>
          <a:ext cx="11587842" cy="5288280"/>
        </p:xfrm>
        <a:graphic>
          <a:graphicData uri="http://schemas.openxmlformats.org/drawingml/2006/table">
            <a:tbl>
              <a:tblPr/>
              <a:tblGrid>
                <a:gridCol w="5067432">
                  <a:extLst>
                    <a:ext uri="{9D8B030D-6E8A-4147-A177-3AD203B41FA5}">
                      <a16:colId xmlns:a16="http://schemas.microsoft.com/office/drawing/2014/main" val="1254735710"/>
                    </a:ext>
                  </a:extLst>
                </a:gridCol>
                <a:gridCol w="6520410">
                  <a:extLst>
                    <a:ext uri="{9D8B030D-6E8A-4147-A177-3AD203B41FA5}">
                      <a16:colId xmlns:a16="http://schemas.microsoft.com/office/drawing/2014/main" val="3254788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Trigger Main Thread</a:t>
                      </a:r>
                    </a:p>
                    <a:p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setState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/ Hooks Update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setState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useState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setter called. React 18 automatically batches updates (even in async code).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Render Phase Main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Re-execute Component → New Virtual DOM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 re-renders, producing a new VDOM tree (Fiber nodes). This is the "work-in-progress" tree.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Reconciliation Main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VDOM Diff → Minimal DOM Operations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React's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fiber reconciler diffs old vs new VDOM. Produces a list of DOM mutations: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setAttribute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insertBefore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removeChild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Batches DOM operations for efficiency.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Browser Repaint Main Thread + GPU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Reflow → Repaint → Composite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Browser recalculates affected layout regions, repaints dirty areas, composites layers on GPU.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useLayoutEffect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runs synchronously before paint.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Updated DOM Element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Trigger JS Thread</a:t>
                      </a:r>
                    </a:p>
                    <a:p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setState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/ Hooks Update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setState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 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useState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setter called. React schedules a re-render on the JS thread. Batching may combine multiple state updates.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Render Phase JS Thread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Re-execute Component → New React Shadow Tree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 function re-executes. A new Shadow Tree is created in C++ memory. This tree represents the 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desired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state of the UI.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Commit Phase 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Layout calculation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 Promotion(new tree -&gt; next tree)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Mount UI Thread</a:t>
                      </a:r>
                    </a:p>
                    <a:p>
                      <a:r>
                        <a:rPr lang="en-US" sz="1400" dirty="0"/>
                        <a:t>Tree Promotion(Next Tree -&gt; Rendered Tree)</a:t>
                      </a:r>
                    </a:p>
                    <a:p>
                      <a:r>
                        <a:rPr lang="en-US" sz="1400" dirty="0"/>
                        <a:t>Tree Diffing</a:t>
                      </a:r>
                    </a:p>
                    <a:p>
                      <a:r>
                        <a:rPr lang="en-US" sz="1400" dirty="0"/>
                        <a:t>View Mounting</a:t>
                      </a:r>
                      <a:br>
                        <a:rPr lang="en-US" sz="1400" dirty="0"/>
                      </a:b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Update Native View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36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838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271115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React Native Render State Updates (C++ state updates)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1DA9A-CF4E-3274-50E8-81AAEC1E8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78980"/>
              </p:ext>
            </p:extLst>
          </p:nvPr>
        </p:nvGraphicFramePr>
        <p:xfrm>
          <a:off x="359229" y="824230"/>
          <a:ext cx="11587842" cy="5928360"/>
        </p:xfrm>
        <a:graphic>
          <a:graphicData uri="http://schemas.openxmlformats.org/drawingml/2006/table">
            <a:tbl>
              <a:tblPr/>
              <a:tblGrid>
                <a:gridCol w="5067432">
                  <a:extLst>
                    <a:ext uri="{9D8B030D-6E8A-4147-A177-3AD203B41FA5}">
                      <a16:colId xmlns:a16="http://schemas.microsoft.com/office/drawing/2014/main" val="1254735710"/>
                    </a:ext>
                  </a:extLst>
                </a:gridCol>
                <a:gridCol w="6520410">
                  <a:extLst>
                    <a:ext uri="{9D8B030D-6E8A-4147-A177-3AD203B41FA5}">
                      <a16:colId xmlns:a16="http://schemas.microsoft.com/office/drawing/2014/main" val="3254788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No C++ State Update Path on Web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web has no concept of a "C++ shadow tree" that can be mutated independently of JavaScript. All React state changes must go through the JS main thread.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However, the browser does offer some mechanisms to offload work from JS: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CSS Transitions / Animations — GPU-composited, don't touch JS or layout.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 + opacity — compositor-only properties, skip layout &amp; paint entirely.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scroll — native browser scrolling is off-main-thread by default (compositor thread).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Animations API — declarative animations that run on the compositor.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OffscreenCanvas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— WebGL/Canvas rendering in a Worker thread.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When C++ State is used only when the platform knows something React doesn’t need to control . </a:t>
                      </a:r>
                      <a:r>
                        <a:rPr lang="en-US" sz="1400" dirty="0" err="1"/>
                        <a:t>Eg</a:t>
                      </a:r>
                      <a:r>
                        <a:rPr lang="en-US" sz="1400" dirty="0"/>
                        <a:t>  </a:t>
                      </a:r>
                      <a:r>
                        <a:rPr lang="en-US" sz="1400" dirty="0" err="1">
                          <a:highlight>
                            <a:srgbClr val="00FF00"/>
                          </a:highlight>
                        </a:rPr>
                        <a:t>ScrollView</a:t>
                      </a:r>
                      <a:endParaRPr lang="en-US" sz="14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n-US" sz="1400" dirty="0"/>
                        <a:t>User scrolls → iOS/Android reports offset (x: 0, y: 347)</a:t>
                      </a:r>
                    </a:p>
                    <a:p>
                      <a:r>
                        <a:rPr lang="en-US" sz="1400" dirty="0"/>
                        <a:t>                    ↓</a:t>
                      </a:r>
                    </a:p>
                    <a:p>
                      <a:r>
                        <a:rPr lang="en-US" sz="1400" dirty="0"/>
                        <a:t>          C++ State updated directly</a:t>
                      </a:r>
                    </a:p>
                    <a:p>
                      <a:r>
                        <a:rPr lang="en-US" sz="1400" dirty="0"/>
                        <a:t>                    ↓</a:t>
                      </a:r>
                    </a:p>
                    <a:p>
                      <a:r>
                        <a:rPr lang="en-US" sz="1400" dirty="0"/>
                        <a:t>        Used by measure() API internally</a:t>
                      </a:r>
                    </a:p>
                    <a:p>
                      <a:r>
                        <a:rPr lang="en-US" sz="1400" dirty="0"/>
                        <a:t>                    ↓</a:t>
                      </a:r>
                    </a:p>
                    <a:p>
                      <a:r>
                        <a:rPr lang="en-US" sz="1400" dirty="0"/>
                        <a:t>     React Element Tree is NOT affected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 defTabSz="914400" rtl="0" eaLnBrk="1" latinLnBrk="0" hangingPunct="1">
                        <a:buAutoNum type="arabicPeriod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C++ state updates skip the “render phase” since React is not involved.</a:t>
                      </a:r>
                      <a:r>
                        <a:rPr lang="en-US" sz="1400" dirty="0"/>
                        <a:t>       Native → C++ (JS never touched)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The updates can originate and happen on any thread, including the main thread.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Commit Phase</a:t>
                      </a:r>
                    </a:p>
                    <a:p>
                      <a:pPr marL="342900" indent="-342900" algn="l" defTabSz="914400" rtl="0" eaLnBrk="1" latinLnBrk="0" hangingPunct="1">
                        <a:buAutoNum type="arabicPeriod"/>
                      </a:pPr>
                      <a:r>
                        <a:rPr lang="en-US" sz="1400" dirty="0"/>
                        <a:t>Read latest committed version of </a:t>
                      </a:r>
                      <a:r>
                        <a:rPr lang="en-US" sz="1400" dirty="0" err="1"/>
                        <a:t>ShadowNode</a:t>
                      </a:r>
                      <a:r>
                        <a:rPr lang="en-US" sz="1400" dirty="0"/>
                        <a:t> N</a:t>
                      </a:r>
                    </a:p>
                    <a:p>
                      <a:pPr marL="342900" indent="-342900" algn="l" defTabSz="914400" rtl="0" eaLnBrk="1" latinLnBrk="0" hangingPunct="1">
                        <a:buAutoNum type="arabicPeriod"/>
                      </a:pPr>
                      <a:r>
                        <a:rPr lang="en-US" sz="1400" dirty="0"/>
                        <a:t>Clone N → N' with new state S </a:t>
                      </a:r>
                    </a:p>
                    <a:p>
                      <a:pPr marL="342900" indent="-342900" algn="l" defTabSz="914400" rtl="0" eaLnBrk="1" latinLnBrk="0" hangingPunct="1">
                        <a:buAutoNum type="arabicPeriod"/>
                      </a:pPr>
                      <a:r>
                        <a:rPr lang="en-US" sz="1400" dirty="0"/>
                        <a:t>Attempt to commit N' to the tree </a:t>
                      </a:r>
                    </a:p>
                    <a:p>
                      <a:pPr marL="342900" indent="-342900" algn="l" defTabSz="914400" rtl="0" eaLnBrk="1" latinLnBrk="0" hangingPunct="1">
                        <a:buAutoNum type="arabicPeriod"/>
                      </a:pPr>
                      <a:r>
                        <a:rPr lang="en-US" sz="1400" dirty="0"/>
                        <a:t>If commit succeeds → done </a:t>
                      </a:r>
                    </a:p>
                    <a:p>
                      <a:pPr marL="342900" indent="-342900" algn="l" defTabSz="914400" rtl="0" eaLnBrk="1" latinLnBrk="0" hangingPunct="1">
                        <a:buAutoNum type="arabicPeriod"/>
                      </a:pPr>
                      <a:r>
                        <a:rPr lang="en-US" sz="1400" dirty="0"/>
                        <a:t>If commit fails (tree changed underneath) → retry from step 1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cap="all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Mount phase</a:t>
                      </a: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 Diff (old ↔ new) → Apply to Native Views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as normal state updates: diff old vs new Shadow Tree, produce mutations, apply to native views on UI thread.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Updated Native View(JS Thread never touched)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36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926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8C03A7-FE8D-7825-598C-BC89153F1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68" y="874861"/>
            <a:ext cx="9879428" cy="3903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BCC423-5EE9-4C35-D810-BE0FE3E1A77C}"/>
              </a:ext>
            </a:extLst>
          </p:cNvPr>
          <p:cNvSpPr txBox="1"/>
          <p:nvPr/>
        </p:nvSpPr>
        <p:spPr>
          <a:xfrm>
            <a:off x="849086" y="524244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ppleSystemUIFont"/>
                <a:ea typeface="Times New Roman" panose="02020603050405020304" pitchFamily="18" charset="0"/>
                <a:cs typeface="AppleSystemUIFont"/>
              </a:rPr>
              <a:t>RN always uses border-box , no property needed</a:t>
            </a:r>
            <a:endParaRPr lang="en-C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AppleSystemUIFont"/>
                <a:ea typeface="Times New Roman" panose="02020603050405020304" pitchFamily="18" charset="0"/>
                <a:cs typeface="AppleSystemUIFont"/>
              </a:rPr>
              <a:t>Total width = width + padding left + padding right + border left + border right</a:t>
            </a:r>
            <a:endParaRPr lang="en-C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30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FBCF7D-ABD6-3614-75E2-AC592080EA2C}"/>
              </a:ext>
            </a:extLst>
          </p:cNvPr>
          <p:cNvSpPr txBox="1"/>
          <p:nvPr/>
        </p:nvSpPr>
        <p:spPr>
          <a:xfrm>
            <a:off x="305753" y="12394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highlight>
                  <a:srgbClr val="FFFF00"/>
                </a:highlight>
                <a:latin typeface="AppleSystemUIFont"/>
                <a:ea typeface="Times New Roman" panose="02020603050405020304" pitchFamily="18" charset="0"/>
                <a:cs typeface="AppleSystemUIFont"/>
              </a:rPr>
              <a:t>View Flattening</a:t>
            </a:r>
            <a:r>
              <a:rPr lang="en-CN" dirty="0">
                <a:effectLst/>
                <a:highlight>
                  <a:srgbClr val="FFFF00"/>
                </a:highlight>
              </a:rPr>
              <a:t> </a:t>
            </a:r>
            <a:endParaRPr lang="en-CN" dirty="0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EC9ACB-CF78-5427-3B62-FBBC0E9AA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635258"/>
            <a:ext cx="5248370" cy="5587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6A2397-4448-536A-6D06-380A3D303F62}"/>
              </a:ext>
            </a:extLst>
          </p:cNvPr>
          <p:cNvSpPr txBox="1"/>
          <p:nvPr/>
        </p:nvSpPr>
        <p:spPr>
          <a:xfrm>
            <a:off x="6096000" y="91648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ppleSystemUIFont"/>
                <a:ea typeface="Times New Roman" panose="02020603050405020304" pitchFamily="18" charset="0"/>
                <a:cs typeface="AppleSystemUIFont"/>
              </a:rPr>
              <a:t>Layout-only nodes: </a:t>
            </a:r>
            <a:endParaRPr lang="en-C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1F0D64-D870-2065-E57F-D720DBE1F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670" y="565194"/>
            <a:ext cx="5088890" cy="22633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7B3CC1-C4F3-487F-20FD-F8E636F97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670" y="2900442"/>
            <a:ext cx="5088890" cy="379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14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338983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Threading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2C9CC5-08FF-A0DE-13B8-3E6936FE5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32401"/>
              </p:ext>
            </p:extLst>
          </p:nvPr>
        </p:nvGraphicFramePr>
        <p:xfrm>
          <a:off x="491685" y="1128939"/>
          <a:ext cx="9806200" cy="4351338"/>
        </p:xfrm>
        <a:graphic>
          <a:graphicData uri="http://schemas.openxmlformats.org/drawingml/2006/table">
            <a:tbl>
              <a:tblPr/>
              <a:tblGrid>
                <a:gridCol w="1598372">
                  <a:extLst>
                    <a:ext uri="{9D8B030D-6E8A-4147-A177-3AD203B41FA5}">
                      <a16:colId xmlns:a16="http://schemas.microsoft.com/office/drawing/2014/main" val="841187757"/>
                    </a:ext>
                  </a:extLst>
                </a:gridCol>
                <a:gridCol w="4757057">
                  <a:extLst>
                    <a:ext uri="{9D8B030D-6E8A-4147-A177-3AD203B41FA5}">
                      <a16:colId xmlns:a16="http://schemas.microsoft.com/office/drawing/2014/main" val="591267998"/>
                    </a:ext>
                  </a:extLst>
                </a:gridCol>
                <a:gridCol w="3450771">
                  <a:extLst>
                    <a:ext uri="{9D8B030D-6E8A-4147-A177-3AD203B41FA5}">
                      <a16:colId xmlns:a16="http://schemas.microsoft.com/office/drawing/2014/main" val="1123811686"/>
                    </a:ext>
                  </a:extLst>
                </a:gridCol>
              </a:tblGrid>
              <a:tr h="4351338">
                <a:tc>
                  <a:txBody>
                    <a:bodyPr/>
                    <a:lstStyle/>
                    <a:p>
                      <a:pPr fontAlgn="t"/>
                      <a:b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Threading Architecture</a:t>
                      </a:r>
                    </a:p>
                  </a:txBody>
                  <a:tcPr marL="208531" marR="208531" marT="173775" marB="173775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Single-Threaded (Main Thread)</a:t>
                      </a:r>
                    </a:p>
                    <a:p>
                      <a:pPr fontAlgn="t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JS execution, DOM manipulation, layout, and paint all share the 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etBrains Mono"/>
                        </a:rPr>
                        <a:t>Main Thread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. </a:t>
                      </a:r>
                    </a:p>
                    <a:p>
                      <a:pPr fontAlgn="t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Heavy computation blocks rendering.</a:t>
                      </a:r>
                    </a:p>
                    <a:p>
                      <a:pPr fontAlgn="t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Web Workers provide off-thread JS but 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  <a:effectLst/>
                        </a:rPr>
                        <a:t>cannot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access the DOM.</a:t>
                      </a:r>
                    </a:p>
                    <a:p>
                      <a:pPr fontAlgn="t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Offloading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Web Workers,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requestIdleCallback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OffscreenCanvas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8531" marR="208531" marT="173775" marB="173775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Multi-Threaded (3+ Threads)</a:t>
                      </a:r>
                    </a:p>
                    <a:p>
                      <a:pPr fontAlgn="t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etBrains Mono"/>
                        </a:rPr>
                        <a:t>JS Thread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runs Hermes/JSC — executes your React code.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etBrains Mono"/>
                        </a:rPr>
                        <a:t>UI Thread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 (Main)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— renders native views, handles touch.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etBrains Mono"/>
                        </a:rPr>
                        <a:t>Shadow Thread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— Yoga layout calculation (New Arch merges this into background work).</a:t>
                      </a:r>
                    </a:p>
                    <a:p>
                      <a:pPr fontAlgn="t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New Arch (Fabric)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 JSI enables synchronous cross-thread calls, replacing the async Bridge.</a:t>
                      </a:r>
                    </a:p>
                  </a:txBody>
                  <a:tcPr marL="208531" marR="208531" marT="173775" marB="173775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612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301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338983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Styling: Css Vs Yoga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23BC5B-F936-994E-7E7D-28B32B2C7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315687"/>
              </p:ext>
            </p:extLst>
          </p:nvPr>
        </p:nvGraphicFramePr>
        <p:xfrm>
          <a:off x="538292" y="1253331"/>
          <a:ext cx="10216794" cy="4351338"/>
        </p:xfrm>
        <a:graphic>
          <a:graphicData uri="http://schemas.openxmlformats.org/drawingml/2006/table">
            <a:tbl>
              <a:tblPr/>
              <a:tblGrid>
                <a:gridCol w="1867451">
                  <a:extLst>
                    <a:ext uri="{9D8B030D-6E8A-4147-A177-3AD203B41FA5}">
                      <a16:colId xmlns:a16="http://schemas.microsoft.com/office/drawing/2014/main" val="4182094913"/>
                    </a:ext>
                  </a:extLst>
                </a:gridCol>
                <a:gridCol w="4735286">
                  <a:extLst>
                    <a:ext uri="{9D8B030D-6E8A-4147-A177-3AD203B41FA5}">
                      <a16:colId xmlns:a16="http://schemas.microsoft.com/office/drawing/2014/main" val="4032370656"/>
                    </a:ext>
                  </a:extLst>
                </a:gridCol>
                <a:gridCol w="3614057">
                  <a:extLst>
                    <a:ext uri="{9D8B030D-6E8A-4147-A177-3AD203B41FA5}">
                      <a16:colId xmlns:a16="http://schemas.microsoft.com/office/drawing/2014/main" val="3507000338"/>
                    </a:ext>
                  </a:extLst>
                </a:gridCol>
              </a:tblGrid>
              <a:tr h="4351338">
                <a:tc>
                  <a:txBody>
                    <a:bodyPr/>
                    <a:lstStyle/>
                    <a:p>
                      <a:pPr fontAlgn="t"/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</a:rPr>
                        <a:t>Styling System</a:t>
                      </a:r>
                    </a:p>
                  </a:txBody>
                  <a:tcPr marL="221254" marR="221254" marT="184379" marB="184379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</a:rPr>
                        <a:t>CSS (Full Spec)</a:t>
                      </a:r>
                    </a:p>
                    <a:p>
                      <a:pPr fontAlgn="t"/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Full CSS cascade, selectors, media queries, pseudo-elements, Grid, Flexbox, animations, transitions. Styles are parsed by the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browser's CSS engine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 and applied during layout/paint.</a:t>
                      </a:r>
                    </a:p>
                    <a:p>
                      <a:pPr fontAlgn="t"/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Tooling: 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CSS Modules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 ,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Tailwind,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styled-components,</a:t>
                      </a:r>
                    </a:p>
                    <a:p>
                      <a:pPr fontAlgn="t"/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CSS-in-JS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254" marR="221254" marT="184379" marB="184379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</a:rPr>
                        <a:t>Yoga (Flexbox Subset in C++)</a:t>
                      </a:r>
                    </a:p>
                    <a:p>
                      <a:pPr fontAlgn="t"/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JS objects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passed to the 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etBrains Mono"/>
                        </a:rPr>
                        <a:t>Yoga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 layout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engine. Flexbox-only — no cascade, no selectors, no CSS Grid, no pseudo-elements. All values are unitless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dp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). </a:t>
                      </a:r>
                    </a:p>
                    <a:p>
                      <a:pPr fontAlgn="t"/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</a:rPr>
                        <a:t>StyleSheet.create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() for optimization.</a:t>
                      </a:r>
                    </a:p>
                    <a:p>
                      <a:pPr fontAlgn="t"/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Limitations: 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No inheritance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No cascade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No media queries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 (use Dimensions API)</a:t>
                      </a:r>
                    </a:p>
                  </a:txBody>
                  <a:tcPr marL="221254" marR="221254" marT="184379" marB="184379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07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504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F6ECEE-68CE-6645-49AD-5BC7A5B36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16" y="988423"/>
            <a:ext cx="10824567" cy="364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24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338983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Navigation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B9926C-98E5-59F2-B1C1-073315BEE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29985"/>
              </p:ext>
            </p:extLst>
          </p:nvPr>
        </p:nvGraphicFramePr>
        <p:xfrm>
          <a:off x="398689" y="1298372"/>
          <a:ext cx="10530568" cy="3398520"/>
        </p:xfrm>
        <a:graphic>
          <a:graphicData uri="http://schemas.openxmlformats.org/drawingml/2006/table">
            <a:tbl>
              <a:tblPr/>
              <a:tblGrid>
                <a:gridCol w="2010523">
                  <a:extLst>
                    <a:ext uri="{9D8B030D-6E8A-4147-A177-3AD203B41FA5}">
                      <a16:colId xmlns:a16="http://schemas.microsoft.com/office/drawing/2014/main" val="2883631325"/>
                    </a:ext>
                  </a:extLst>
                </a:gridCol>
                <a:gridCol w="4719891">
                  <a:extLst>
                    <a:ext uri="{9D8B030D-6E8A-4147-A177-3AD203B41FA5}">
                      <a16:colId xmlns:a16="http://schemas.microsoft.com/office/drawing/2014/main" val="2992360953"/>
                    </a:ext>
                  </a:extLst>
                </a:gridCol>
                <a:gridCol w="3800154">
                  <a:extLst>
                    <a:ext uri="{9D8B030D-6E8A-4147-A177-3AD203B41FA5}">
                      <a16:colId xmlns:a16="http://schemas.microsoft.com/office/drawing/2014/main" val="335161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Navigation &amp; Routing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URL-Based Routing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Browser history stack via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History API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. Routes map to URL paths. Deep linking is native to the web. Back/forward managed by the browser.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Libraries: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React Router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,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Next.js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 Router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TanStack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 Router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Native Stack-Based Navigation(a stack of screens)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No URL bar. Navigation mimics native app patterns —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etBrains Mono"/>
                        </a:rPr>
                        <a:t>Stack,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etBrains Mono"/>
                        </a:rPr>
                        <a:t>Tab,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etBrains Mono"/>
                        </a:rPr>
                        <a:t>Drawer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navigators. Each screen is a native view controller with platform transitions and gestures.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Libraries: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React Navigation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Expo Router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(file-based, adds URL support)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395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993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338983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Lifecycle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853684-AE8B-A23D-71BA-A33F15FC3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563715"/>
              </p:ext>
            </p:extLst>
          </p:nvPr>
        </p:nvGraphicFramePr>
        <p:xfrm>
          <a:off x="398690" y="1396655"/>
          <a:ext cx="9539967" cy="2849880"/>
        </p:xfrm>
        <a:graphic>
          <a:graphicData uri="http://schemas.openxmlformats.org/drawingml/2006/table">
            <a:tbl>
              <a:tblPr/>
              <a:tblGrid>
                <a:gridCol w="1873056">
                  <a:extLst>
                    <a:ext uri="{9D8B030D-6E8A-4147-A177-3AD203B41FA5}">
                      <a16:colId xmlns:a16="http://schemas.microsoft.com/office/drawing/2014/main" val="1044855043"/>
                    </a:ext>
                  </a:extLst>
                </a:gridCol>
                <a:gridCol w="4222943">
                  <a:extLst>
                    <a:ext uri="{9D8B030D-6E8A-4147-A177-3AD203B41FA5}">
                      <a16:colId xmlns:a16="http://schemas.microsoft.com/office/drawing/2014/main" val="1396055875"/>
                    </a:ext>
                  </a:extLst>
                </a:gridCol>
                <a:gridCol w="3443968">
                  <a:extLst>
                    <a:ext uri="{9D8B030D-6E8A-4147-A177-3AD203B41FA5}">
                      <a16:colId xmlns:a16="http://schemas.microsoft.com/office/drawing/2014/main" val="237887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Component Lifecycle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Standard React Lifecycle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useEffect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useLayoutEffect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useMemo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— runs in a single environment. Page visibility via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visibilitychange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event. Cleanup on unmount is straightforward.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React Lifecycle + App State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Same hooks, but with added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AppState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(active / background / inactive). Must handle: OS killing background processes, memory warnings, and native module lifecycle.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useFocusEffect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for screen visibility.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981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72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338983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Engine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57049E-2DFF-E9AE-5F37-73335287D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656994"/>
              </p:ext>
            </p:extLst>
          </p:nvPr>
        </p:nvGraphicFramePr>
        <p:xfrm>
          <a:off x="489858" y="1341914"/>
          <a:ext cx="9343344" cy="3947160"/>
        </p:xfrm>
        <a:graphic>
          <a:graphicData uri="http://schemas.openxmlformats.org/drawingml/2006/table">
            <a:tbl>
              <a:tblPr/>
              <a:tblGrid>
                <a:gridCol w="2162610">
                  <a:extLst>
                    <a:ext uri="{9D8B030D-6E8A-4147-A177-3AD203B41FA5}">
                      <a16:colId xmlns:a16="http://schemas.microsoft.com/office/drawing/2014/main" val="475937691"/>
                    </a:ext>
                  </a:extLst>
                </a:gridCol>
                <a:gridCol w="3813646">
                  <a:extLst>
                    <a:ext uri="{9D8B030D-6E8A-4147-A177-3AD203B41FA5}">
                      <a16:colId xmlns:a16="http://schemas.microsoft.com/office/drawing/2014/main" val="1510307623"/>
                    </a:ext>
                  </a:extLst>
                </a:gridCol>
                <a:gridCol w="3367088">
                  <a:extLst>
                    <a:ext uri="{9D8B030D-6E8A-4147-A177-3AD203B41FA5}">
                      <a16:colId xmlns:a16="http://schemas.microsoft.com/office/drawing/2014/main" val="1674236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JavaScript Engine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Browser JS Engine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V8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(Chrome/Edge), </a:t>
                      </a:r>
                    </a:p>
                    <a:p>
                      <a:pPr fontAlgn="t"/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SpiderMonkey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(Firefox),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JavaScriptCore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(Safari). 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Full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JIT compilation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, mature garbage collection, Web APIs built in.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Hermes (Default since RN 0.70)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Hermes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—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bytecode-compiled AOT(ahead of time)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for fast startup and low memory. Optimized for mobile constraints. No full JIT on Android. Alternatively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JSC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on iOS (legacy).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Key advantage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Hermes precompiles JS → bytecode at build time, slashing cold start time.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619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340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AF456B-1DB1-6620-53C9-F295558E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47" y="902970"/>
            <a:ext cx="10324272" cy="31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04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338983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JS </a:t>
            </a:r>
            <a:r>
              <a:rPr lang="en-US" sz="2000" b="1" dirty="0">
                <a:solidFill>
                  <a:schemeClr val="tx1"/>
                </a:solidFill>
                <a:effectLst/>
              </a:rPr>
              <a:t>↔ </a:t>
            </a:r>
            <a:r>
              <a:rPr lang="en-CN" sz="2000" b="1" dirty="0">
                <a:highlight>
                  <a:srgbClr val="FFFF00"/>
                </a:highlight>
                <a:sym typeface="Wingdings" pitchFamily="2" charset="2"/>
              </a:rPr>
              <a:t>Native Communication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FF68E5-9137-1520-C4AE-DAA9FB8A4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735583"/>
              </p:ext>
            </p:extLst>
          </p:nvPr>
        </p:nvGraphicFramePr>
        <p:xfrm>
          <a:off x="747712" y="1298372"/>
          <a:ext cx="9615488" cy="3672840"/>
        </p:xfrm>
        <a:graphic>
          <a:graphicData uri="http://schemas.openxmlformats.org/drawingml/2006/table">
            <a:tbl>
              <a:tblPr/>
              <a:tblGrid>
                <a:gridCol w="2321679">
                  <a:extLst>
                    <a:ext uri="{9D8B030D-6E8A-4147-A177-3AD203B41FA5}">
                      <a16:colId xmlns:a16="http://schemas.microsoft.com/office/drawing/2014/main" val="1956359316"/>
                    </a:ext>
                  </a:extLst>
                </a:gridCol>
                <a:gridCol w="4088646">
                  <a:extLst>
                    <a:ext uri="{9D8B030D-6E8A-4147-A177-3AD203B41FA5}">
                      <a16:colId xmlns:a16="http://schemas.microsoft.com/office/drawing/2014/main" val="789169309"/>
                    </a:ext>
                  </a:extLst>
                </a:gridCol>
                <a:gridCol w="3205163">
                  <a:extLst>
                    <a:ext uri="{9D8B030D-6E8A-4147-A177-3AD203B41FA5}">
                      <a16:colId xmlns:a16="http://schemas.microsoft.com/office/drawing/2014/main" val="3538481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JS ↔ Native Communication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Direct — No Bridge Needed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JS and DOM are in the same runtime. Calling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document.createElement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() is a synchronous engine API call. Web APIs (fetch, canvas, WebGL) are built into the browser.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JSI / Bridge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Old Arch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Async JSON Bridge — serializes all data between JS ↔ Native (bottleneck).</a:t>
                      </a:r>
                      <a:b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New Arch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JSI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— C++ interface allowing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synchronous,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direct calls between JS and native.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TurboModules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+ Fabric eliminate the bridge.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JS (Hermes)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⟷ JSI ⟷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C++ / Native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791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056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E52ABD-D7FE-D9FA-0B79-5ED8ACD14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429" y="912697"/>
            <a:ext cx="7772400" cy="416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832888-4F96-3CED-92C2-05D959FBE50B}"/>
              </a:ext>
            </a:extLst>
          </p:cNvPr>
          <p:cNvSpPr txBox="1"/>
          <p:nvPr/>
        </p:nvSpPr>
        <p:spPr>
          <a:xfrm>
            <a:off x="174172" y="98220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Timer(Web VS React-Native VS Node)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D70AF-195C-3598-C51D-1454BBE961C6}"/>
              </a:ext>
            </a:extLst>
          </p:cNvPr>
          <p:cNvSpPr txBox="1"/>
          <p:nvPr/>
        </p:nvSpPr>
        <p:spPr>
          <a:xfrm>
            <a:off x="87087" y="611127"/>
            <a:ext cx="33092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100" dirty="0"/>
              <a:t>## 1. Web Timer</a:t>
            </a:r>
          </a:p>
          <a:p>
            <a:r>
              <a:rPr lang="en-CN" sz="1100" dirty="0"/>
              <a:t>// ┌───────────────────────────┐</a:t>
            </a:r>
          </a:p>
          <a:p>
            <a:r>
              <a:rPr lang="en-CN" sz="1100" dirty="0"/>
              <a:t>// │     Call Stack            │</a:t>
            </a:r>
          </a:p>
          <a:p>
            <a:r>
              <a:rPr lang="en-CN" sz="1100" dirty="0"/>
              <a:t>// │   (</a:t>
            </a:r>
            <a:r>
              <a:rPr lang="en-CN" sz="1100" dirty="0">
                <a:highlight>
                  <a:srgbClr val="00FF00"/>
                </a:highlight>
              </a:rPr>
              <a:t>Synchronous Code)      </a:t>
            </a:r>
            <a:r>
              <a:rPr lang="en-CN" sz="1100" dirty="0"/>
              <a:t>│</a:t>
            </a:r>
          </a:p>
          <a:p>
            <a:r>
              <a:rPr lang="en-CN" sz="1100" dirty="0"/>
              <a:t>// └─────────────┬─────────────┘</a:t>
            </a:r>
          </a:p>
          <a:p>
            <a:r>
              <a:rPr lang="en-CN" sz="1100" dirty="0"/>
              <a:t>//               │</a:t>
            </a:r>
          </a:p>
          <a:p>
            <a:r>
              <a:rPr lang="en-CN" sz="1100" dirty="0"/>
              <a:t>// ┌─────────────▼─────────────┐</a:t>
            </a:r>
          </a:p>
          <a:p>
            <a:r>
              <a:rPr lang="en-CN" sz="1100" dirty="0"/>
              <a:t>// </a:t>
            </a:r>
            <a:r>
              <a:rPr lang="en-CN" sz="1100" dirty="0">
                <a:highlight>
                  <a:srgbClr val="00FF00"/>
                </a:highlight>
              </a:rPr>
              <a:t>│   Microtask Queue         </a:t>
            </a:r>
            <a:r>
              <a:rPr lang="en-CN" sz="1100" dirty="0"/>
              <a:t>│</a:t>
            </a:r>
          </a:p>
          <a:p>
            <a:r>
              <a:rPr lang="en-CN" sz="1100" dirty="0"/>
              <a:t>// │   - Promise.then()        │</a:t>
            </a:r>
          </a:p>
          <a:p>
            <a:r>
              <a:rPr lang="en-CN" sz="1100" dirty="0"/>
              <a:t>// │   - queueMicrotask()      │</a:t>
            </a:r>
          </a:p>
          <a:p>
            <a:r>
              <a:rPr lang="en-CN" sz="1100" dirty="0"/>
              <a:t>// │   - MutationObserver      │</a:t>
            </a:r>
          </a:p>
          <a:p>
            <a:r>
              <a:rPr lang="en-CN" sz="1100" dirty="0"/>
              <a:t>// └─────────────┬─────────────┘</a:t>
            </a:r>
          </a:p>
          <a:p>
            <a:r>
              <a:rPr lang="en-CN" sz="1100" dirty="0"/>
              <a:t>//               │</a:t>
            </a:r>
          </a:p>
          <a:p>
            <a:r>
              <a:rPr lang="en-CN" sz="1100" dirty="0"/>
              <a:t>// ┌─────────────▼─────────────┐</a:t>
            </a:r>
          </a:p>
          <a:p>
            <a:r>
              <a:rPr lang="en-CN" sz="1100" dirty="0"/>
              <a:t>// │   Render Pipeline         │</a:t>
            </a:r>
          </a:p>
          <a:p>
            <a:r>
              <a:rPr lang="en-CN" sz="1100" dirty="0"/>
              <a:t>// │   - Style calculation     │</a:t>
            </a:r>
          </a:p>
          <a:p>
            <a:r>
              <a:rPr lang="en-CN" sz="1100" dirty="0"/>
              <a:t>// │   - Layout                │</a:t>
            </a:r>
          </a:p>
          <a:p>
            <a:r>
              <a:rPr lang="en-CN" sz="1100" dirty="0"/>
              <a:t>// │   - Paint                 │</a:t>
            </a:r>
          </a:p>
          <a:p>
            <a:r>
              <a:rPr lang="en-CN" sz="1100" dirty="0"/>
              <a:t>// └─────────────┬─────────────┘</a:t>
            </a:r>
          </a:p>
          <a:p>
            <a:r>
              <a:rPr lang="en-CN" sz="1100" dirty="0"/>
              <a:t>//               │</a:t>
            </a:r>
          </a:p>
          <a:p>
            <a:r>
              <a:rPr lang="en-CN" sz="1100" dirty="0"/>
              <a:t>// ┌─────────────▼─────────────┐</a:t>
            </a:r>
          </a:p>
          <a:p>
            <a:r>
              <a:rPr lang="en-CN" sz="1100" dirty="0"/>
              <a:t>// │   </a:t>
            </a:r>
            <a:r>
              <a:rPr lang="en-CN" sz="1100" dirty="0">
                <a:highlight>
                  <a:srgbClr val="00FF00"/>
                </a:highlight>
              </a:rPr>
              <a:t>Macrotask Queue         </a:t>
            </a:r>
            <a:r>
              <a:rPr lang="en-CN" sz="1100" dirty="0"/>
              <a:t>│</a:t>
            </a:r>
          </a:p>
          <a:p>
            <a:r>
              <a:rPr lang="en-CN" sz="1100" dirty="0"/>
              <a:t>// │   - setTimeout            │</a:t>
            </a:r>
          </a:p>
          <a:p>
            <a:r>
              <a:rPr lang="en-CN" sz="1100" dirty="0"/>
              <a:t>// │   - setInterval           │</a:t>
            </a:r>
          </a:p>
          <a:p>
            <a:r>
              <a:rPr lang="en-CN" sz="1100" dirty="0"/>
              <a:t>// │   - I/O                   │</a:t>
            </a:r>
          </a:p>
          <a:p>
            <a:r>
              <a:rPr lang="en-CN" sz="1100" dirty="0"/>
              <a:t>// └─────────────┬─────────────┘</a:t>
            </a:r>
          </a:p>
          <a:p>
            <a:r>
              <a:rPr lang="en-CN" sz="1100" dirty="0"/>
              <a:t>//               │</a:t>
            </a:r>
          </a:p>
          <a:p>
            <a:r>
              <a:rPr lang="en-CN" sz="1100" dirty="0"/>
              <a:t>// ┌─────────────▼─────────────┐</a:t>
            </a:r>
          </a:p>
          <a:p>
            <a:r>
              <a:rPr lang="en-CN" sz="1100" dirty="0"/>
              <a:t>// │   requestAnimationFrame   │</a:t>
            </a:r>
          </a:p>
          <a:p>
            <a:r>
              <a:rPr lang="en-CN" sz="1100" dirty="0"/>
              <a:t>// │   (before next paint)     │</a:t>
            </a:r>
          </a:p>
          <a:p>
            <a:r>
              <a:rPr lang="en-CN" sz="1100" dirty="0"/>
              <a:t>// └─────────────┬─────────────┘</a:t>
            </a:r>
          </a:p>
          <a:p>
            <a:r>
              <a:rPr lang="en-CN" sz="1100" dirty="0"/>
              <a:t>//               │</a:t>
            </a:r>
          </a:p>
          <a:p>
            <a:r>
              <a:rPr lang="en-CN" sz="1100" dirty="0"/>
              <a:t>// ┌─────────────▼─────────────┐</a:t>
            </a:r>
          </a:p>
          <a:p>
            <a:r>
              <a:rPr lang="en-CN" sz="1100" dirty="0"/>
              <a:t>// │   requestIdleCallback     │</a:t>
            </a:r>
          </a:p>
          <a:p>
            <a:r>
              <a:rPr lang="en-CN" sz="1100" dirty="0"/>
              <a:t>// │   (when browser is idle)  │</a:t>
            </a:r>
          </a:p>
          <a:p>
            <a:r>
              <a:rPr lang="en-CN" sz="1100" dirty="0"/>
              <a:t>// └───────────────────────────┘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DAD16-4C86-5815-1863-33422C7425FE}"/>
              </a:ext>
            </a:extLst>
          </p:cNvPr>
          <p:cNvSpPr txBox="1"/>
          <p:nvPr/>
        </p:nvSpPr>
        <p:spPr>
          <a:xfrm>
            <a:off x="3712028" y="510493"/>
            <a:ext cx="3646715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100" dirty="0"/>
              <a:t>// ## 2. React Native Timers</a:t>
            </a:r>
          </a:p>
          <a:p>
            <a:r>
              <a:rPr lang="en-CN" sz="1100" dirty="0"/>
              <a:t>// ### Event Loop Architecture</a:t>
            </a:r>
          </a:p>
          <a:p>
            <a:r>
              <a:rPr lang="en-CN" sz="1100" dirty="0"/>
              <a:t>// ```</a:t>
            </a:r>
          </a:p>
          <a:p>
            <a:r>
              <a:rPr lang="en-CN" sz="1100" dirty="0"/>
              <a:t>// JavaScript Thread              Bridge              Native Thread</a:t>
            </a:r>
          </a:p>
          <a:p>
            <a:r>
              <a:rPr lang="en-CN" sz="1100" dirty="0"/>
              <a:t>// ─────────────────             ────────</a:t>
            </a:r>
          </a:p>
          <a:p>
            <a:r>
              <a:rPr lang="en-CN" sz="1100" dirty="0"/>
              <a:t>// ┌───────────────────────┐</a:t>
            </a:r>
          </a:p>
          <a:p>
            <a:r>
              <a:rPr lang="en-CN" sz="1100" dirty="0"/>
              <a:t>// │  </a:t>
            </a:r>
            <a:r>
              <a:rPr lang="en-CN" sz="1100" dirty="0">
                <a:highlight>
                  <a:srgbClr val="00FF00"/>
                </a:highlight>
              </a:rPr>
              <a:t>Synchronous Code     </a:t>
            </a:r>
            <a:r>
              <a:rPr lang="en-CN" sz="1100" dirty="0"/>
              <a:t>│</a:t>
            </a:r>
          </a:p>
          <a:p>
            <a:r>
              <a:rPr lang="en-CN" sz="1100" dirty="0"/>
              <a:t>// └──────────┬────────────┘</a:t>
            </a:r>
          </a:p>
          <a:p>
            <a:r>
              <a:rPr lang="en-CN" sz="1100" dirty="0"/>
              <a:t>//            │</a:t>
            </a:r>
          </a:p>
          <a:p>
            <a:r>
              <a:rPr lang="en-CN" sz="1100" dirty="0"/>
              <a:t>// ┌──────────▼────────────┐</a:t>
            </a:r>
          </a:p>
          <a:p>
            <a:r>
              <a:rPr lang="en-CN" sz="1100" dirty="0"/>
              <a:t>// │  </a:t>
            </a:r>
            <a:r>
              <a:rPr lang="en-CN" sz="1100" dirty="0">
                <a:highlight>
                  <a:srgbClr val="00FF00"/>
                </a:highlight>
              </a:rPr>
              <a:t>Microtask Queue      </a:t>
            </a:r>
            <a:r>
              <a:rPr lang="en-CN" sz="1100" dirty="0"/>
              <a:t>│</a:t>
            </a:r>
          </a:p>
          <a:p>
            <a:r>
              <a:rPr lang="en-CN" sz="1100" dirty="0"/>
              <a:t>// │  (Promise - uses      │</a:t>
            </a:r>
          </a:p>
          <a:p>
            <a:r>
              <a:rPr lang="en-CN" sz="1100" dirty="0"/>
              <a:t>// │   setImmediate)       │</a:t>
            </a:r>
          </a:p>
          <a:p>
            <a:r>
              <a:rPr lang="en-CN" sz="1100" dirty="0"/>
              <a:t>// └──────────┬────────────┘</a:t>
            </a:r>
          </a:p>
          <a:p>
            <a:r>
              <a:rPr lang="en-CN" sz="1100" dirty="0"/>
              <a:t>//            │</a:t>
            </a:r>
          </a:p>
          <a:p>
            <a:r>
              <a:rPr lang="en-CN" sz="1100" dirty="0"/>
              <a:t>// ┌──────────▼────────────┐</a:t>
            </a:r>
          </a:p>
          <a:p>
            <a:r>
              <a:rPr lang="en-CN" sz="1100" dirty="0"/>
              <a:t>// │  setImmediate Queue   │</a:t>
            </a:r>
          </a:p>
          <a:p>
            <a:r>
              <a:rPr lang="en-CN" sz="1100" dirty="0"/>
              <a:t>// └──────────┬────────────┘</a:t>
            </a:r>
          </a:p>
          <a:p>
            <a:r>
              <a:rPr lang="en-CN" sz="1100" dirty="0"/>
              <a:t>//            │</a:t>
            </a:r>
          </a:p>
          <a:p>
            <a:r>
              <a:rPr lang="en-CN" sz="1100" dirty="0"/>
              <a:t>//            └───────────────────&gt;  [</a:t>
            </a:r>
            <a:r>
              <a:rPr lang="en-CN" sz="1100" dirty="0">
                <a:highlight>
                  <a:srgbClr val="00FF00"/>
                </a:highlight>
              </a:rPr>
              <a:t>Bridge Crossing</a:t>
            </a:r>
            <a:r>
              <a:rPr lang="en-CN" sz="1100" dirty="0"/>
              <a:t>]</a:t>
            </a:r>
          </a:p>
          <a:p>
            <a:r>
              <a:rPr lang="en-CN" sz="1100" dirty="0"/>
              <a:t>//                                         │</a:t>
            </a:r>
          </a:p>
          <a:p>
            <a:r>
              <a:rPr lang="en-CN" sz="1100" dirty="0"/>
              <a:t>//                              ┌──────────▼──────────┐</a:t>
            </a:r>
          </a:p>
          <a:p>
            <a:r>
              <a:rPr lang="en-CN" sz="1100" dirty="0"/>
              <a:t>//                              │  Native Processing  │</a:t>
            </a:r>
          </a:p>
          <a:p>
            <a:r>
              <a:rPr lang="en-CN" sz="1100" dirty="0"/>
              <a:t>//                              │  - Layout           │</a:t>
            </a:r>
          </a:p>
          <a:p>
            <a:r>
              <a:rPr lang="en-CN" sz="1100" dirty="0"/>
              <a:t>//                              │  - Render           │</a:t>
            </a:r>
          </a:p>
          <a:p>
            <a:r>
              <a:rPr lang="en-CN" sz="1100" dirty="0"/>
              <a:t>//                              └──────────┬──────────┘</a:t>
            </a:r>
          </a:p>
          <a:p>
            <a:r>
              <a:rPr lang="en-CN" sz="1100" dirty="0"/>
              <a:t>//                                         │</a:t>
            </a:r>
          </a:p>
          <a:p>
            <a:r>
              <a:rPr lang="en-CN" sz="1100" dirty="0"/>
              <a:t>//            ┌────────────────────────────┘</a:t>
            </a:r>
          </a:p>
          <a:p>
            <a:r>
              <a:rPr lang="en-CN" sz="1100" dirty="0"/>
              <a:t>//            │</a:t>
            </a:r>
          </a:p>
          <a:p>
            <a:r>
              <a:rPr lang="en-CN" sz="1100" dirty="0"/>
              <a:t>// ┌──────────▼────────────┐</a:t>
            </a:r>
          </a:p>
          <a:p>
            <a:r>
              <a:rPr lang="en-CN" sz="1100" dirty="0"/>
              <a:t>// │ requestAnimationFrame │</a:t>
            </a:r>
          </a:p>
          <a:p>
            <a:r>
              <a:rPr lang="en-CN" sz="1100" dirty="0"/>
              <a:t>// │ (after frame ready)   │</a:t>
            </a:r>
          </a:p>
          <a:p>
            <a:r>
              <a:rPr lang="en-CN" sz="1100" dirty="0"/>
              <a:t>// └──────────┬────────────┘</a:t>
            </a:r>
          </a:p>
          <a:p>
            <a:r>
              <a:rPr lang="en-CN" sz="1100" dirty="0"/>
              <a:t>//            │</a:t>
            </a:r>
          </a:p>
          <a:p>
            <a:r>
              <a:rPr lang="en-CN" sz="1100" dirty="0"/>
              <a:t>// ┌──────────▼────────────┐</a:t>
            </a:r>
          </a:p>
          <a:p>
            <a:r>
              <a:rPr lang="en-CN" sz="1100" dirty="0"/>
              <a:t>// │ setTimeout/setInterval│</a:t>
            </a:r>
          </a:p>
          <a:p>
            <a:r>
              <a:rPr lang="en-CN" sz="1100" dirty="0"/>
              <a:t>// └───────────────────────┘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1169E-720D-0087-0615-F2C67D94BC9E}"/>
              </a:ext>
            </a:extLst>
          </p:cNvPr>
          <p:cNvSpPr txBox="1"/>
          <p:nvPr/>
        </p:nvSpPr>
        <p:spPr>
          <a:xfrm>
            <a:off x="7826829" y="611127"/>
            <a:ext cx="4114801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100" dirty="0"/>
              <a:t>// ## 3. Node.js Timers</a:t>
            </a:r>
          </a:p>
          <a:p>
            <a:endParaRPr lang="en-CN" sz="1100" dirty="0"/>
          </a:p>
          <a:p>
            <a:r>
              <a:rPr lang="en-CN" sz="1100" dirty="0"/>
              <a:t>// ### Event Loop Architecture</a:t>
            </a:r>
          </a:p>
          <a:p>
            <a:r>
              <a:rPr lang="en-CN" sz="1100" dirty="0"/>
              <a:t>// ```</a:t>
            </a:r>
          </a:p>
          <a:p>
            <a:r>
              <a:rPr lang="en-CN" sz="1100" dirty="0"/>
              <a:t>//    ┌───────────────────────────┐</a:t>
            </a:r>
          </a:p>
          <a:p>
            <a:r>
              <a:rPr lang="en-CN" sz="1100" dirty="0"/>
              <a:t>// ┌─&gt;│          </a:t>
            </a:r>
            <a:r>
              <a:rPr lang="en-CN" sz="1100" dirty="0">
                <a:highlight>
                  <a:srgbClr val="00FF00"/>
                </a:highlight>
              </a:rPr>
              <a:t> timers  </a:t>
            </a:r>
            <a:r>
              <a:rPr lang="en-CN" sz="1100" dirty="0"/>
              <a:t>        │ ← setTimeout, setInterval</a:t>
            </a:r>
          </a:p>
          <a:p>
            <a:r>
              <a:rPr lang="en-CN" sz="1100" dirty="0"/>
              <a:t>// │  └─────────────┬─────────────┘</a:t>
            </a:r>
          </a:p>
          <a:p>
            <a:r>
              <a:rPr lang="en-CN" sz="1100" dirty="0"/>
              <a:t>// │  ┌─────────────▼─────────────┐</a:t>
            </a:r>
          </a:p>
          <a:p>
            <a:r>
              <a:rPr lang="en-CN" sz="1100" dirty="0"/>
              <a:t>// │  </a:t>
            </a:r>
            <a:r>
              <a:rPr lang="en-CN" sz="1100" dirty="0">
                <a:highlight>
                  <a:srgbClr val="00FF00"/>
                </a:highlight>
              </a:rPr>
              <a:t>│     pending callbacks     </a:t>
            </a:r>
            <a:r>
              <a:rPr lang="en-CN" sz="1100" dirty="0"/>
              <a:t>│ ← I/O callbacks (deferred)</a:t>
            </a:r>
          </a:p>
          <a:p>
            <a:r>
              <a:rPr lang="en-CN" sz="1100" dirty="0"/>
              <a:t>// │  └─────────────┬─────────────┘</a:t>
            </a:r>
          </a:p>
          <a:p>
            <a:r>
              <a:rPr lang="en-CN" sz="1100" dirty="0"/>
              <a:t>// │  ┌─────────────▼─────────────┐</a:t>
            </a:r>
          </a:p>
          <a:p>
            <a:r>
              <a:rPr lang="en-CN" sz="1100" dirty="0"/>
              <a:t>// │  </a:t>
            </a:r>
            <a:r>
              <a:rPr lang="en-CN" sz="1100" dirty="0">
                <a:highlight>
                  <a:srgbClr val="00FF00"/>
                </a:highlight>
              </a:rPr>
              <a:t>│       idle, prepare       </a:t>
            </a:r>
            <a:r>
              <a:rPr lang="en-CN" sz="1100" dirty="0"/>
              <a:t>│ ← Internal use</a:t>
            </a:r>
          </a:p>
          <a:p>
            <a:r>
              <a:rPr lang="en-CN" sz="1100" dirty="0"/>
              <a:t>// │  └─────────────┬─────────────┘</a:t>
            </a:r>
          </a:p>
          <a:p>
            <a:r>
              <a:rPr lang="en-CN" sz="1100" dirty="0"/>
              <a:t>// │  ┌─────────────▼─────────────┐</a:t>
            </a:r>
          </a:p>
          <a:p>
            <a:r>
              <a:rPr lang="en-CN" sz="1100" dirty="0"/>
              <a:t>// │  </a:t>
            </a:r>
            <a:r>
              <a:rPr lang="en-CN" sz="1100" dirty="0">
                <a:highlight>
                  <a:srgbClr val="00FF00"/>
                </a:highlight>
              </a:rPr>
              <a:t>│           poll            </a:t>
            </a:r>
            <a:r>
              <a:rPr lang="en-CN" sz="1100" dirty="0"/>
              <a:t>│ ← I/O operations</a:t>
            </a:r>
          </a:p>
          <a:p>
            <a:r>
              <a:rPr lang="en-CN" sz="1100" dirty="0"/>
              <a:t>// │  └─────────────┬─────────────┘</a:t>
            </a:r>
          </a:p>
          <a:p>
            <a:r>
              <a:rPr lang="en-CN" sz="1100" dirty="0"/>
              <a:t>// │  ┌─────────────▼─────────────┐</a:t>
            </a:r>
          </a:p>
          <a:p>
            <a:r>
              <a:rPr lang="en-CN" sz="1100" dirty="0"/>
              <a:t>// │  </a:t>
            </a:r>
            <a:r>
              <a:rPr lang="en-CN" sz="1100" dirty="0">
                <a:highlight>
                  <a:srgbClr val="00FF00"/>
                </a:highlight>
              </a:rPr>
              <a:t>│           check           </a:t>
            </a:r>
            <a:r>
              <a:rPr lang="en-CN" sz="1100" dirty="0"/>
              <a:t>│ ← setImmediate callbacks</a:t>
            </a:r>
          </a:p>
          <a:p>
            <a:r>
              <a:rPr lang="en-CN" sz="1100" dirty="0"/>
              <a:t>// │  └─────────────┬─────────────┘</a:t>
            </a:r>
          </a:p>
          <a:p>
            <a:r>
              <a:rPr lang="en-CN" sz="1100" dirty="0"/>
              <a:t>// │  ┌─────────────▼─────────────┐</a:t>
            </a:r>
          </a:p>
          <a:p>
            <a:r>
              <a:rPr lang="en-CN" sz="1100" dirty="0"/>
              <a:t>// │  │      </a:t>
            </a:r>
            <a:r>
              <a:rPr lang="en-CN" sz="1100" dirty="0">
                <a:highlight>
                  <a:srgbClr val="00FF00"/>
                </a:highlight>
              </a:rPr>
              <a:t>close callbacks      </a:t>
            </a:r>
            <a:r>
              <a:rPr lang="en-CN" sz="1100" dirty="0"/>
              <a:t>│ ← socket.on('close', ...)</a:t>
            </a:r>
          </a:p>
          <a:p>
            <a:r>
              <a:rPr lang="en-CN" sz="1100" dirty="0"/>
              <a:t>// │  └───────────────────────────┘</a:t>
            </a:r>
          </a:p>
          <a:p>
            <a:r>
              <a:rPr lang="en-CN" sz="1100" dirty="0"/>
              <a:t>// │</a:t>
            </a:r>
          </a:p>
          <a:p>
            <a:r>
              <a:rPr lang="en-CN" sz="1100" dirty="0"/>
              <a:t>// │  ┌───────────────────────────┐</a:t>
            </a:r>
          </a:p>
          <a:p>
            <a:r>
              <a:rPr lang="en-CN" sz="1100" dirty="0"/>
              <a:t>// │  │   process.nextTick        │ ← Highest priority!</a:t>
            </a:r>
          </a:p>
          <a:p>
            <a:r>
              <a:rPr lang="en-CN" sz="1100" dirty="0"/>
              <a:t>// │  │   (after each phase)      │</a:t>
            </a:r>
          </a:p>
          <a:p>
            <a:r>
              <a:rPr lang="en-CN" sz="1100" dirty="0"/>
              <a:t>// │  └───────────────────────────┘</a:t>
            </a:r>
          </a:p>
          <a:p>
            <a:r>
              <a:rPr lang="en-CN" sz="1100" dirty="0"/>
              <a:t>// │</a:t>
            </a:r>
          </a:p>
          <a:p>
            <a:r>
              <a:rPr lang="en-CN" sz="1100" dirty="0"/>
              <a:t>// │  ┌───────────────────────────┐</a:t>
            </a:r>
          </a:p>
          <a:p>
            <a:r>
              <a:rPr lang="en-CN" sz="1100" dirty="0"/>
              <a:t>// │  │   Promise Microtasks      │ ← After nextTick</a:t>
            </a:r>
          </a:p>
          <a:p>
            <a:r>
              <a:rPr lang="en-CN" sz="1100" dirty="0"/>
              <a:t>// │  └───────────────────────────┘</a:t>
            </a:r>
          </a:p>
          <a:p>
            <a:r>
              <a:rPr lang="en-CN" sz="1100" dirty="0"/>
              <a:t>// │</a:t>
            </a:r>
          </a:p>
          <a:p>
            <a:r>
              <a:rPr lang="en-CN" sz="1100" dirty="0"/>
              <a:t>// └──────────────────────────────────┘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401127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5115-79A4-1AFB-2CCF-DA73827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523649"/>
            <a:ext cx="9144000" cy="2387600"/>
          </a:xfrm>
        </p:spPr>
        <p:txBody>
          <a:bodyPr/>
          <a:lstStyle/>
          <a:p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7D7A-4F5C-2D46-F17E-8821A9079A6A}"/>
              </a:ext>
            </a:extLst>
          </p:cNvPr>
          <p:cNvSpPr txBox="1"/>
          <p:nvPr/>
        </p:nvSpPr>
        <p:spPr>
          <a:xfrm>
            <a:off x="359229" y="338983"/>
            <a:ext cx="880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highlight>
                  <a:srgbClr val="FFFF00"/>
                </a:highlight>
              </a:rPr>
              <a:t>Build &amp; Deployment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A40274-3C1C-ED40-D50E-F8C025505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138303"/>
              </p:ext>
            </p:extLst>
          </p:nvPr>
        </p:nvGraphicFramePr>
        <p:xfrm>
          <a:off x="450397" y="923758"/>
          <a:ext cx="8715375" cy="4018355"/>
        </p:xfrm>
        <a:graphic>
          <a:graphicData uri="http://schemas.openxmlformats.org/drawingml/2006/table">
            <a:tbl>
              <a:tblPr/>
              <a:tblGrid>
                <a:gridCol w="2434317">
                  <a:extLst>
                    <a:ext uri="{9D8B030D-6E8A-4147-A177-3AD203B41FA5}">
                      <a16:colId xmlns:a16="http://schemas.microsoft.com/office/drawing/2014/main" val="2256678743"/>
                    </a:ext>
                  </a:extLst>
                </a:gridCol>
                <a:gridCol w="3375933">
                  <a:extLst>
                    <a:ext uri="{9D8B030D-6E8A-4147-A177-3AD203B41FA5}">
                      <a16:colId xmlns:a16="http://schemas.microsoft.com/office/drawing/2014/main" val="1471478554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3166693945"/>
                    </a:ext>
                  </a:extLst>
                </a:gridCol>
              </a:tblGrid>
              <a:tr h="4018355">
                <a:tc>
                  <a:txBody>
                    <a:bodyPr/>
                    <a:lstStyle/>
                    <a:p>
                      <a:pPr fontAlgn="t"/>
                      <a:b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Build &amp; Deployment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Bundle → CDN</a:t>
                      </a:r>
                    </a:p>
                    <a:p>
                      <a:pPr fontAlgn="t"/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Vite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,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Webpack,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esbuild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bundle JS/CSS/assets into static files. Deploy to any CDN or server. Instant updates — no app store review.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Native Binary + JS Bundle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Gradle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(Android) / 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Xcode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(iOS) compile native code into an app binary containing the Hermes bytecode bundle. App Store / Play Store submission required.</a:t>
                      </a:r>
                    </a:p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OTA Updates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CodePush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/ Expo Updates can push JS-only changes without store review.</a:t>
                      </a:r>
                    </a:p>
                  </a:txBody>
                  <a:tcPr marL="228600" marR="228600" marT="190500" marB="190500">
                    <a:lnL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A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263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298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573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3EDDB-BE67-7772-4FB7-53ECC5FA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419" y="392430"/>
            <a:ext cx="4731907" cy="580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5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800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595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437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098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206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15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6134</TotalTime>
  <Words>2248</Words>
  <Application>Microsoft Macintosh PowerPoint</Application>
  <PresentationFormat>Widescreen</PresentationFormat>
  <Paragraphs>303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AppleSystemUIFont</vt:lpstr>
      <vt:lpstr>Google Sans</vt:lpstr>
      <vt:lpstr>JetBrains Mono</vt:lpstr>
      <vt:lpstr>Optimistic Display</vt:lpstr>
      <vt:lpstr>Arial</vt:lpstr>
      <vt:lpstr>Calibri</vt:lpstr>
      <vt:lpstr>Calibri Light</vt:lpstr>
      <vt:lpstr>Times New Roman</vt:lpstr>
      <vt:lpstr>Office Theme</vt:lpstr>
      <vt:lpstr>React VS React-Native </vt:lpstr>
      <vt:lpstr>PowerPoint Presentation</vt:lpstr>
      <vt:lpstr>PowerPoint Presentation</vt:lpstr>
      <vt:lpstr> </vt:lpstr>
      <vt:lpstr>PowerPoint Presentation</vt:lpstr>
      <vt:lpstr>PowerPoint Presentation</vt:lpstr>
      <vt:lpstr> </vt:lpstr>
      <vt:lpstr>PowerPoint Presentation</vt:lpstr>
      <vt:lpstr> </vt:lpstr>
      <vt:lpstr> </vt:lpstr>
      <vt:lpstr> </vt:lpstr>
      <vt:lpstr>PowerPoint Presentation</vt:lpstr>
      <vt:lpstr>PowerPoint Presentation</vt:lpstr>
      <vt:lpstr> </vt:lpstr>
      <vt:lpstr> </vt:lpstr>
      <vt:lpstr>PowerPoint Presentation</vt:lpstr>
      <vt:lpstr> </vt:lpstr>
      <vt:lpstr> </vt:lpstr>
      <vt:lpstr> </vt:lpstr>
      <vt:lpstr>PowerPoint Presentation</vt:lpstr>
      <vt:lpstr> 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206</cp:revision>
  <dcterms:created xsi:type="dcterms:W3CDTF">2026-02-06T03:42:15Z</dcterms:created>
  <dcterms:modified xsi:type="dcterms:W3CDTF">2026-02-10T09:56:19Z</dcterms:modified>
</cp:coreProperties>
</file>